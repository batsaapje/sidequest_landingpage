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A4FB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gradFill>
            <a:gsLst>
              <a:gs pos="0">
                <a:srgbClr val="5A4FB5"/>
              </a:gs>
              <a:gs pos="30000">
                <a:srgbClr val="6E63C7"/>
              </a:gs>
              <a:gs pos="55000">
                <a:srgbClr val="8A7ED8"/>
              </a:gs>
              <a:gs pos="80000">
                <a:srgbClr val="7A6FD0"/>
              </a:gs>
              <a:gs pos="100000">
                <a:srgbClr val="5FB3C4"/>
              </a:gs>
            </a:gsLst>
            <a:lin ang="81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-1828800"/>
            <a:ext cx="8229600" cy="5486400"/>
          </a:xfrm>
          <a:prstGeom prst="ellipse">
            <a:avLst/>
          </a:prstGeom>
          <a:ln>
            <a:noFill/>
          </a:ln>
          <a:gradFill>
            <a:gsLst>
              <a:gs pos="0">
                <a:srgbClr val="8A7ED8">
                  <a:alpha val="40000"/>
                </a:srgbClr>
              </a:gs>
              <a:gs pos="100000">
                <a:srgbClr val="6E63C7">
                  <a:alpha val="40000"/>
                </a:srgbClr>
              </a:gs>
            </a:gsLst>
            <a:lin ang="81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400800" y="2743200"/>
            <a:ext cx="7315200" cy="6400800"/>
          </a:xfrm>
          <a:prstGeom prst="ellipse">
            <a:avLst/>
          </a:prstGeom>
          <a:ln>
            <a:noFill/>
          </a:ln>
          <a:gradFill>
            <a:gsLst>
              <a:gs pos="0">
                <a:srgbClr val="77BCCC">
                  <a:alpha val="30000"/>
                </a:srgbClr>
              </a:gs>
              <a:gs pos="100000">
                <a:srgbClr val="A3D5E0">
                  <a:alpha val="30000"/>
                </a:srgbClr>
              </a:gs>
            </a:gsLst>
            <a:lin ang="120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743200" y="3657600"/>
            <a:ext cx="6400800" cy="4572000"/>
          </a:xfrm>
          <a:prstGeom prst="ellipse">
            <a:avLst/>
          </a:prstGeom>
          <a:ln>
            <a:noFill/>
          </a:ln>
          <a:gradFill>
            <a:gsLst>
              <a:gs pos="0">
                <a:srgbClr val="9585E0">
                  <a:alpha val="25000"/>
                </a:srgbClr>
              </a:gs>
              <a:gs pos="100000">
                <a:srgbClr val="77BCCC">
                  <a:alpha val="25000"/>
                </a:srgbClr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FFFFFF"/>
                </a:solidFill>
                <a:latin typeface="DM Sans"/>
              </a:defRPr>
            </a:pPr>
            <a:r>
              <a:t>SIDEQUEST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 i="0">
                <a:solidFill>
                  <a:srgbClr val="FFFFFF"/>
                </a:solidFill>
                <a:latin typeface="DM Sans"/>
              </a:defRPr>
            </a:pPr>
            <a:r>
              <a:t>Design Guidelines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8404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DDDDEE"/>
                </a:solidFill>
                <a:latin typeface="Inter"/>
              </a:defRPr>
            </a:pPr>
            <a:r>
              <a:t>A comprehensive visual identity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AAAACC"/>
                </a:solidFill>
                <a:latin typeface="Inter"/>
              </a:defRPr>
            </a:pPr>
            <a:r>
              <a:t>VERSION 1.0  —  FEBRUARY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77295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 i="0">
                <a:solidFill>
                  <a:srgbClr val="FFFFFF"/>
                </a:solidFill>
                <a:latin typeface="Inter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3093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FFFFFF"/>
                </a:solidFill>
                <a:latin typeface="Inter"/>
              </a:defRPr>
            </a:pPr>
            <a:r>
              <a:t>Sidequest — Design Guidelines</a:t>
            </a:r>
          </a:p>
        </p:txBody>
      </p:sp>
      <p:pic>
        <p:nvPicPr>
          <p:cNvPr id="13" name="Picture 12" descr="logo_trimm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4247" y="854964"/>
            <a:ext cx="2743200" cy="65379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ln>
            <a:noFill/>
          </a:ln>
          <a:gradFill>
            <a:gsLst>
              <a:gs pos="0">
                <a:srgbClr val="5A4FB5"/>
              </a:gs>
              <a:gs pos="50000">
                <a:srgbClr val="7171D3"/>
              </a:gs>
              <a:gs pos="100000">
                <a:srgbClr val="77BCCC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2011680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6B6B80"/>
                </a:solidFill>
                <a:latin typeface="Inter"/>
              </a:defRPr>
            </a:pPr>
            <a:r>
              <a:t>01 — FOUNDATION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1A1A2E"/>
                </a:solidFill>
                <a:latin typeface="DM Sans"/>
              </a:defRPr>
            </a:pPr>
            <a:r>
              <a:t>Color Palette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6B6B80"/>
                </a:solidFill>
                <a:latin typeface="Inter"/>
              </a:defRPr>
            </a:pPr>
            <a:r>
              <a:t>Our palette balances playful energy with professional trust. Purple leads, turquoise accents.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7171D3"/>
                </a:solidFill>
                <a:latin typeface="Inter"/>
              </a:defRPr>
            </a:pPr>
            <a:r>
              <a:t>PRIMARY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606040"/>
            <a:ext cx="1828800" cy="822960"/>
          </a:xfrm>
          <a:prstGeom prst="roundRect">
            <a:avLst/>
          </a:prstGeom>
          <a:solidFill>
            <a:srgbClr val="7171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4747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1A1A2E"/>
                </a:solidFill>
                <a:latin typeface="DM Sans"/>
              </a:defRPr>
            </a:pPr>
            <a:r>
              <a:t>Purple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65760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6B6B80"/>
                </a:solidFill>
                <a:latin typeface="Courier New"/>
              </a:defRPr>
            </a:pPr>
            <a:r>
              <a:t>--purple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813048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6B6B80"/>
                </a:solidFill>
                <a:latin typeface="Courier New"/>
              </a:defRPr>
            </a:pPr>
            <a:r>
              <a:t>#7171D3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34640" y="2606040"/>
            <a:ext cx="1828800" cy="822960"/>
          </a:xfrm>
          <a:prstGeom prst="roundRect">
            <a:avLst/>
          </a:prstGeom>
          <a:solidFill>
            <a:srgbClr val="8F8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34640" y="34747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1A1A2E"/>
                </a:solidFill>
                <a:latin typeface="DM Sans"/>
              </a:defRPr>
            </a:pPr>
            <a:r>
              <a:t>Purple Light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365760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6B6B80"/>
                </a:solidFill>
                <a:latin typeface="Courier New"/>
              </a:defRPr>
            </a:pPr>
            <a:r>
              <a:t>--purple-light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3813048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6B6B80"/>
                </a:solidFill>
                <a:latin typeface="Courier New"/>
              </a:defRPr>
            </a:pPr>
            <a:r>
              <a:t>#8F8FE0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37760" y="2606040"/>
            <a:ext cx="1828800" cy="822960"/>
          </a:xfrm>
          <a:prstGeom prst="roundRect">
            <a:avLst/>
          </a:prstGeom>
          <a:solidFill>
            <a:srgbClr val="5A5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37760" y="34747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1A1A2E"/>
                </a:solidFill>
                <a:latin typeface="DM Sans"/>
              </a:defRPr>
            </a:pPr>
            <a:r>
              <a:t>Purple Dark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365760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6B6B80"/>
                </a:solidFill>
                <a:latin typeface="Courier New"/>
              </a:defRPr>
            </a:pPr>
            <a:r>
              <a:t>--purple-dark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0" y="3813048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6B6B80"/>
                </a:solidFill>
                <a:latin typeface="Courier New"/>
              </a:defRPr>
            </a:pPr>
            <a:r>
              <a:t>#5A5AB8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40880" y="2606040"/>
            <a:ext cx="1828800" cy="822960"/>
          </a:xfrm>
          <a:prstGeom prst="roundRect">
            <a:avLst/>
          </a:prstGeom>
          <a:solidFill>
            <a:srgbClr val="77B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40880" y="34747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1A1A2E"/>
                </a:solidFill>
                <a:latin typeface="DM Sans"/>
              </a:defRPr>
            </a:pPr>
            <a:r>
              <a:t>Turquoise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0" y="365760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6B6B80"/>
                </a:solidFill>
                <a:latin typeface="Courier New"/>
              </a:defRPr>
            </a:pPr>
            <a:r>
              <a:t>--turquoise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0" y="3813048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6B6B80"/>
                </a:solidFill>
                <a:latin typeface="Courier New"/>
              </a:defRPr>
            </a:pPr>
            <a:r>
              <a:t>#77BCCC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0" y="2606040"/>
            <a:ext cx="1828800" cy="822960"/>
          </a:xfrm>
          <a:prstGeom prst="roundRect">
            <a:avLst/>
          </a:prstGeom>
          <a:solidFill>
            <a:srgbClr val="A3D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0" y="34747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1A1A2E"/>
                </a:solidFill>
                <a:latin typeface="DM Sans"/>
              </a:defRPr>
            </a:pPr>
            <a:r>
              <a:t>Turquoise Light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365760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6B6B80"/>
                </a:solidFill>
                <a:latin typeface="Courier New"/>
              </a:defRPr>
            </a:pPr>
            <a:r>
              <a:t>--turquoise-light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3813048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6B6B80"/>
                </a:solidFill>
                <a:latin typeface="Courier New"/>
              </a:defRPr>
            </a:pPr>
            <a:r>
              <a:t>#A3D5E0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42976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7171D3"/>
                </a:solidFill>
                <a:latin typeface="Inter"/>
              </a:defRPr>
            </a:pPr>
            <a:r>
              <a:t>NEUTRALS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4617720"/>
            <a:ext cx="1828800" cy="82296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54864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1A1A2E"/>
                </a:solidFill>
                <a:latin typeface="DM Sans"/>
              </a:defRPr>
            </a:pPr>
            <a:r>
              <a:t>Black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66928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6B6B80"/>
                </a:solidFill>
                <a:latin typeface="Courier New"/>
              </a:defRPr>
            </a:pPr>
            <a:r>
              <a:t>--black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824728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6B6B80"/>
                </a:solidFill>
                <a:latin typeface="Courier New"/>
              </a:defRPr>
            </a:pPr>
            <a:r>
              <a:t>#1A1A2E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834640" y="4617720"/>
            <a:ext cx="1828800" cy="822960"/>
          </a:xfrm>
          <a:prstGeom prst="roundRect">
            <a:avLst/>
          </a:prstGeom>
          <a:solidFill>
            <a:srgbClr val="2A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834640" y="54864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1A1A2E"/>
                </a:solidFill>
                <a:latin typeface="DM Sans"/>
              </a:defRPr>
            </a:pPr>
            <a:r>
              <a:t>Gray 800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34640" y="566928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6B6B80"/>
                </a:solidFill>
                <a:latin typeface="Courier New"/>
              </a:defRPr>
            </a:pPr>
            <a:r>
              <a:t>--gray-800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834640" y="5824728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6B6B80"/>
                </a:solidFill>
                <a:latin typeface="Courier New"/>
              </a:defRPr>
            </a:pPr>
            <a:r>
              <a:t>#2A2A3D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937760" y="4617720"/>
            <a:ext cx="1828800" cy="822960"/>
          </a:xfrm>
          <a:prstGeom prst="roundRect">
            <a:avLst/>
          </a:prstGeom>
          <a:solidFill>
            <a:srgbClr val="6B6B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937760" y="54864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1A1A2E"/>
                </a:solidFill>
                <a:latin typeface="DM Sans"/>
              </a:defRPr>
            </a:pPr>
            <a:r>
              <a:t>Gray 500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37760" y="566928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6B6B80"/>
                </a:solidFill>
                <a:latin typeface="Courier New"/>
              </a:defRPr>
            </a:pPr>
            <a:r>
              <a:t>--gray-500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37760" y="5824728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6B6B80"/>
                </a:solidFill>
                <a:latin typeface="Courier New"/>
              </a:defRPr>
            </a:pPr>
            <a:r>
              <a:t>#6B6B80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040880" y="4617720"/>
            <a:ext cx="1828800" cy="822960"/>
          </a:xfrm>
          <a:prstGeom prst="roundRect">
            <a:avLst/>
          </a:prstGeom>
          <a:solidFill>
            <a:srgbClr val="E8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040880" y="54864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1A1A2E"/>
                </a:solidFill>
                <a:latin typeface="DM Sans"/>
              </a:defRPr>
            </a:pPr>
            <a:r>
              <a:t>Gray 200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40880" y="566928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6B6B80"/>
                </a:solidFill>
                <a:latin typeface="Courier New"/>
              </a:defRPr>
            </a:pPr>
            <a:r>
              <a:t>--gray-200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40880" y="5824728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6B6B80"/>
                </a:solidFill>
                <a:latin typeface="Courier New"/>
              </a:defRPr>
            </a:pPr>
            <a:r>
              <a:t>#E8E8F0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144000" y="4617720"/>
            <a:ext cx="1828800" cy="822960"/>
          </a:xfrm>
          <a:prstGeom prst="roundRect">
            <a:avLst/>
          </a:prstGeom>
          <a:solidFill>
            <a:srgbClr val="F4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44000" y="54864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1A1A2E"/>
                </a:solidFill>
                <a:latin typeface="DM Sans"/>
              </a:defRPr>
            </a:pPr>
            <a:r>
              <a:t>Gray 100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44000" y="566928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6B6B80"/>
                </a:solidFill>
                <a:latin typeface="Courier New"/>
              </a:defRPr>
            </a:pPr>
            <a:r>
              <a:t>--gray-100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44000" y="5824728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6B6B80"/>
                </a:solidFill>
                <a:latin typeface="Courier New"/>
              </a:defRPr>
            </a:pPr>
            <a:r>
              <a:t>#F4F4F8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277295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 i="0">
                <a:solidFill>
                  <a:srgbClr val="6B6B80"/>
                </a:solidFill>
                <a:latin typeface="Inter"/>
              </a:defRPr>
            </a:pPr>
            <a:r>
              <a:t>02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8640" y="63093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6B6B80"/>
                </a:solidFill>
                <a:latin typeface="Inter"/>
              </a:defRPr>
            </a:pPr>
            <a:r>
              <a:t>Sidequest — Design Guidelines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ln>
            <a:noFill/>
          </a:ln>
          <a:gradFill>
            <a:gsLst>
              <a:gs pos="0">
                <a:srgbClr val="77BCCC"/>
              </a:gs>
              <a:gs pos="50000">
                <a:srgbClr val="7171D3"/>
              </a:gs>
              <a:gs pos="100000">
                <a:srgbClr val="5A4FB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2011680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6B6B80"/>
                </a:solidFill>
                <a:latin typeface="Inter"/>
              </a:defRPr>
            </a:pPr>
            <a:r>
              <a:t>02 — TYPOGRAPHY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1A1A2E"/>
                </a:solidFill>
                <a:latin typeface="DM Sans"/>
              </a:defRPr>
            </a:pPr>
            <a:r>
              <a:t>Type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6B6B80"/>
                </a:solidFill>
                <a:latin typeface="Inter"/>
              </a:defRPr>
            </a:pPr>
            <a:r>
              <a:t>Three typefaces in harmony: DM Sans for headings, Playfair Display for accents, Inter for body.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86000"/>
            <a:ext cx="1069848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7171D3"/>
                </a:solidFill>
                <a:latin typeface="Inter"/>
              </a:defRPr>
            </a:pPr>
            <a:r>
              <a:t>DM SANS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517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6B6B80"/>
                </a:solidFill>
                <a:latin typeface="Courier New"/>
              </a:defRPr>
            </a:pPr>
            <a:r>
              <a:t>--font-display</a:t>
            </a:r>
            <a:br/>
            <a:r>
              <a:t>Weight: 500, 700</a:t>
            </a:r>
            <a:br/>
            <a:r>
              <a:t>Use: Headings, card titles, nav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24688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1A1A2E"/>
                </a:solidFill>
                <a:latin typeface="DM Sans"/>
              </a:defRPr>
            </a:pPr>
            <a:r>
              <a:t>Games built for learning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657600"/>
            <a:ext cx="1069848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79476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7171D3"/>
                </a:solidFill>
                <a:latin typeface="Inter"/>
              </a:defRPr>
            </a:pPr>
            <a:r>
              <a:t>PLAYFAIR DISPLAY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0233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6B6B80"/>
                </a:solidFill>
                <a:latin typeface="Courier New"/>
              </a:defRPr>
            </a:pPr>
            <a:r>
              <a:t>--font-serif</a:t>
            </a:r>
            <a:br/>
            <a:r>
              <a:t>Weight: 300, 400, 700</a:t>
            </a:r>
            <a:br/>
            <a:r>
              <a:t>Use: Italic accents on keywords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384048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A1A2E"/>
                </a:solidFill>
                <a:latin typeface="DM Sans"/>
              </a:rPr>
              <a:t>What our </a:t>
            </a:r>
            <a:r>
              <a:rPr sz="3200" i="1">
                <a:solidFill>
                  <a:srgbClr val="7171D3"/>
                </a:solidFill>
                <a:latin typeface="Playfair Display"/>
              </a:rPr>
              <a:t>clients</a:t>
            </a:r>
            <a:r>
              <a:rPr sz="3200" b="1">
                <a:solidFill>
                  <a:srgbClr val="1A1A2E"/>
                </a:solidFill>
                <a:latin typeface="DM Sans"/>
              </a:rPr>
              <a:t> say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029200"/>
            <a:ext cx="106984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516636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7171D3"/>
                </a:solidFill>
                <a:latin typeface="Inter"/>
              </a:defRPr>
            </a:pPr>
            <a:r>
              <a:t>INTER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3949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6B6B80"/>
                </a:solidFill>
                <a:latin typeface="Courier New"/>
              </a:defRPr>
            </a:pPr>
            <a:r>
              <a:t>--font-body</a:t>
            </a:r>
            <a:br/>
            <a:r>
              <a:t>Weight: 400, 500, 600</a:t>
            </a:r>
            <a:br/>
            <a:r>
              <a:t>Use: Body text, labels, buttons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52578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6B6B80"/>
                </a:solidFill>
                <a:latin typeface="Inter"/>
              </a:defRPr>
            </a:pPr>
            <a:r>
              <a:t>We turn business frameworks into interactive sessions that people actually remember. No boring slides, just hands-on experiences.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77295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 i="0">
                <a:solidFill>
                  <a:srgbClr val="6B6B80"/>
                </a:solidFill>
                <a:latin typeface="Inter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3093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6B6B80"/>
                </a:solidFill>
                <a:latin typeface="Inter"/>
              </a:defRPr>
            </a:pPr>
            <a:r>
              <a:t>Sidequest — Design Guidelines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ln>
            <a:noFill/>
          </a:ln>
          <a:gradFill>
            <a:gsLst>
              <a:gs pos="0">
                <a:srgbClr val="5A4FB5"/>
              </a:gs>
              <a:gs pos="50000">
                <a:srgbClr val="7171D3"/>
              </a:gs>
              <a:gs pos="100000">
                <a:srgbClr val="77BCCC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2011680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6B6B80"/>
                </a:solidFill>
                <a:latin typeface="Inter"/>
              </a:defRPr>
            </a:pPr>
            <a:r>
              <a:t>02 — TYPOGRAPHY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1A1A2E"/>
                </a:solidFill>
                <a:latin typeface="DM Sans"/>
              </a:defRPr>
            </a:pPr>
            <a:r>
              <a:t>Type Scale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212080" cy="658368"/>
          </a:xfrm>
          <a:prstGeom prst="roundRect">
            <a:avLst/>
          </a:prstGeom>
          <a:solidFill>
            <a:srgbClr val="F4F4F8"/>
          </a:solidFill>
          <a:ln w="12700">
            <a:solidFill>
              <a:srgbClr val="E8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01952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7171D3"/>
                </a:solidFill>
                <a:latin typeface="Inter"/>
              </a:defRPr>
            </a:pPr>
            <a:r>
              <a:t>Hero Title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1A1A2E"/>
                </a:solidFill>
                <a:latin typeface="Courier New"/>
              </a:defRPr>
            </a:pPr>
            <a:r>
              <a:t>clamp(3.2rem, 7vw, 5.5rem)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6B6B80"/>
                </a:solidFill>
                <a:latin typeface="Inter"/>
              </a:defRPr>
            </a:pPr>
            <a:r>
              <a:t>DM Sans 700 · tracking -0.03em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606040"/>
            <a:ext cx="5212080" cy="658368"/>
          </a:xfrm>
          <a:prstGeom prst="roundRect">
            <a:avLst/>
          </a:prstGeom>
          <a:solidFill>
            <a:srgbClr val="F4F4F8"/>
          </a:solidFill>
          <a:ln w="12700">
            <a:solidFill>
              <a:srgbClr val="E8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679192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7171D3"/>
                </a:solidFill>
                <a:latin typeface="Inter"/>
              </a:defRPr>
            </a:pPr>
            <a:r>
              <a:t>Section Title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88036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1A1A2E"/>
                </a:solidFill>
                <a:latin typeface="Courier New"/>
              </a:defRPr>
            </a:pPr>
            <a:r>
              <a:t>clamp(2rem, 4.5vw, 3.2rem)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06324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6B6B80"/>
                </a:solidFill>
                <a:latin typeface="Inter"/>
              </a:defRPr>
            </a:pPr>
            <a:r>
              <a:t>DM Sans 700 · tracking -0.02em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383280"/>
            <a:ext cx="5212080" cy="658368"/>
          </a:xfrm>
          <a:prstGeom prst="roundRect">
            <a:avLst/>
          </a:prstGeom>
          <a:solidFill>
            <a:srgbClr val="F4F4F8"/>
          </a:solidFill>
          <a:ln w="12700">
            <a:solidFill>
              <a:srgbClr val="E8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456432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7171D3"/>
                </a:solidFill>
                <a:latin typeface="Inter"/>
              </a:defRPr>
            </a:pPr>
            <a:r>
              <a:t>Card Title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65760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1A1A2E"/>
                </a:solidFill>
                <a:latin typeface="Courier New"/>
              </a:defRPr>
            </a:pPr>
            <a:r>
              <a:t>1.15rem – 1.2rem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84048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6B6B80"/>
                </a:solidFill>
                <a:latin typeface="Inter"/>
              </a:defRPr>
            </a:pPr>
            <a:r>
              <a:t>DM Sans 700 · line-height 1.3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4160520"/>
            <a:ext cx="5212080" cy="658368"/>
          </a:xfrm>
          <a:prstGeom prst="roundRect">
            <a:avLst/>
          </a:prstGeom>
          <a:solidFill>
            <a:srgbClr val="F4F4F8"/>
          </a:solidFill>
          <a:ln w="12700">
            <a:solidFill>
              <a:srgbClr val="E8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4233672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7171D3"/>
                </a:solidFill>
                <a:latin typeface="Inter"/>
              </a:defRPr>
            </a:pPr>
            <a:r>
              <a:t>Body Text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43484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1A1A2E"/>
                </a:solidFill>
                <a:latin typeface="Courier New"/>
              </a:defRPr>
            </a:pPr>
            <a:r>
              <a:t>0.88rem – 1.05rem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61772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6B6B80"/>
                </a:solidFill>
                <a:latin typeface="Inter"/>
              </a:defRPr>
            </a:pPr>
            <a:r>
              <a:t>Inter 400 · line-height 1.6–1.7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937760"/>
            <a:ext cx="5212080" cy="658368"/>
          </a:xfrm>
          <a:prstGeom prst="roundRect">
            <a:avLst/>
          </a:prstGeom>
          <a:solidFill>
            <a:srgbClr val="F4F4F8"/>
          </a:solidFill>
          <a:ln w="12700">
            <a:solidFill>
              <a:srgbClr val="E8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010912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7171D3"/>
                </a:solidFill>
                <a:latin typeface="Inter"/>
              </a:defRPr>
            </a:pPr>
            <a:r>
              <a:t>Button / Label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21208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1A1A2E"/>
                </a:solidFill>
                <a:latin typeface="Courier New"/>
              </a:defRPr>
            </a:pPr>
            <a:r>
              <a:t>0.85rem – 0.9rem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39496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6B6B80"/>
                </a:solidFill>
                <a:latin typeface="Inter"/>
              </a:defRPr>
            </a:pPr>
            <a:r>
              <a:t>Inter 500–600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5715000"/>
            <a:ext cx="5212080" cy="658368"/>
          </a:xfrm>
          <a:prstGeom prst="roundRect">
            <a:avLst/>
          </a:prstGeom>
          <a:solidFill>
            <a:srgbClr val="F4F4F8"/>
          </a:solidFill>
          <a:ln w="12700">
            <a:solidFill>
              <a:srgbClr val="E8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5788152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7171D3"/>
                </a:solidFill>
                <a:latin typeface="Inter"/>
              </a:defRPr>
            </a:pPr>
            <a:r>
              <a:t>Caption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598932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1A1A2E"/>
                </a:solidFill>
                <a:latin typeface="Courier New"/>
              </a:defRPr>
            </a:pPr>
            <a:r>
              <a:t>0.72rem – 0.78rem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617220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6B6B80"/>
                </a:solidFill>
                <a:latin typeface="Inter"/>
              </a:defRPr>
            </a:pPr>
            <a:r>
              <a:t>Inter 400–500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77295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 i="0">
                <a:solidFill>
                  <a:srgbClr val="6B6B80"/>
                </a:solidFill>
                <a:latin typeface="Inter"/>
              </a:defRPr>
            </a:pPr>
            <a: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3093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6B6B80"/>
                </a:solidFill>
                <a:latin typeface="Inter"/>
              </a:defRPr>
            </a:pPr>
            <a:r>
              <a:t>Sidequest — Design Guidelines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ln>
            <a:noFill/>
          </a:ln>
          <a:gradFill>
            <a:gsLst>
              <a:gs pos="0">
                <a:srgbClr val="77BCCC"/>
              </a:gs>
              <a:gs pos="50000">
                <a:srgbClr val="7171D3"/>
              </a:gs>
              <a:gs pos="100000">
                <a:srgbClr val="5A4FB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2011680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6B6B80"/>
                </a:solidFill>
                <a:latin typeface="Inter"/>
              </a:defRPr>
            </a:pPr>
            <a:r>
              <a:t>03 — COMPONENTS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1A1A2E"/>
                </a:solidFill>
                <a:latin typeface="DM Sans"/>
              </a:defRPr>
            </a:pPr>
            <a:r>
              <a:t>Button Styles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6B6B80"/>
                </a:solidFill>
                <a:latin typeface="Inter"/>
              </a:defRPr>
            </a:pPr>
            <a:r>
              <a:t>Three button tiers serve different levels of emphasis, all with playful micro-interactions.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86000"/>
            <a:ext cx="338328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6888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7171D3"/>
                </a:solidFill>
                <a:latin typeface="Inter"/>
              </a:defRPr>
            </a:pPr>
            <a:r>
              <a:t>PRIMARY CTA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A1A2E"/>
                </a:solidFill>
                <a:latin typeface="DM Sans"/>
              </a:defRPr>
            </a:pPr>
            <a:r>
              <a:t>Nav Button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3108960"/>
            <a:ext cx="1645920" cy="411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Inter"/>
              </a:defRPr>
            </a:pPr>
            <a:r>
              <a:t>Get in touch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749039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6B6B80"/>
                </a:solidFill>
                <a:latin typeface="Inter"/>
              </a:defRPr>
            </a:pPr>
            <a:r>
              <a:t>Solid dark background, white text. 8px radius. Features CSS mask reveal animation (urban sprite, 30 frames, 0.7s) on hover.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7548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6B6B80"/>
                </a:solidFill>
                <a:latin typeface="Courier New"/>
              </a:defRPr>
            </a:pPr>
            <a:r>
              <a:t>font: Inter 500, 0.9rem</a:t>
            </a:r>
            <a:br/>
            <a:r>
              <a:t>bg: --black | radius: 8px</a:t>
            </a:r>
            <a:br/>
            <a:r>
              <a:t>padding: 10px 24px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2286000"/>
            <a:ext cx="338328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246888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7171D3"/>
                </a:solidFill>
                <a:latin typeface="Inter"/>
              </a:defRPr>
            </a:pPr>
            <a:r>
              <a:t>SECONDARY CTA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6974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A1A2E"/>
                </a:solidFill>
                <a:latin typeface="DM Sans"/>
              </a:defRPr>
            </a:pPr>
            <a:r>
              <a:t>Blob Button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63440" y="3108960"/>
            <a:ext cx="2011680" cy="411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1A1A2E"/>
                </a:solidFill>
                <a:latin typeface="Inter"/>
              </a:defRPr>
            </a:pPr>
            <a:r>
              <a:t>Send a message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3749039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6B6B80"/>
                </a:solidFill>
                <a:latin typeface="Inter"/>
              </a:defRPr>
            </a:pPr>
            <a:r>
              <a:t>Outlined pill shape with gooey blob fill animation on hover. 4 purple blobs with staggered delays. Text inverts to white.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47548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6B6B80"/>
                </a:solidFill>
                <a:latin typeface="Courier New"/>
              </a:defRPr>
            </a:pPr>
            <a:r>
              <a:t>font: Inter 600, 0.9rem</a:t>
            </a:r>
            <a:br/>
            <a:r>
              <a:t>border: 2px solid --black</a:t>
            </a:r>
            <a:br/>
            <a:r>
              <a:t>radius: 30px | padding: 12px 28px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2286000"/>
            <a:ext cx="338328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246888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7171D3"/>
                </a:solidFill>
                <a:latin typeface="Inter"/>
              </a:defRPr>
            </a:pPr>
            <a:r>
              <a:t>TERTIARY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26974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A1A2E"/>
                </a:solidFill>
                <a:latin typeface="DM Sans"/>
              </a:defRPr>
            </a:pPr>
            <a:r>
              <a:t>Section Tag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21040" y="3108960"/>
            <a:ext cx="1645920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>
                <a:solidFill>
                  <a:srgbClr val="6B6B80"/>
                </a:solidFill>
                <a:latin typeface="Inter"/>
              </a:defRPr>
            </a:pPr>
            <a:r>
              <a:t>What we offer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3749039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6B6B80"/>
                </a:solidFill>
                <a:latin typeface="Inter"/>
              </a:defRPr>
            </a:pPr>
            <a:r>
              <a:t>Passive label pill for section categorization. Not interactive — serves as a visual signpost.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47548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6B6B80"/>
                </a:solidFill>
                <a:latin typeface="Courier New"/>
              </a:defRPr>
            </a:pPr>
            <a:r>
              <a:t>font: Inter 500, 0.85rem</a:t>
            </a:r>
            <a:br/>
            <a:r>
              <a:t>bg: --white | border: 1px --gray-200</a:t>
            </a:r>
            <a:br/>
            <a:r>
              <a:t>radius: 999px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77295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 i="0">
                <a:solidFill>
                  <a:srgbClr val="6B6B80"/>
                </a:solidFill>
                <a:latin typeface="Inter"/>
              </a:defRPr>
            </a:pPr>
            <a: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3093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6B6B80"/>
                </a:solidFill>
                <a:latin typeface="Inter"/>
              </a:defRPr>
            </a:pPr>
            <a:r>
              <a:t>Sidequest — Design Guidelines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ln>
            <a:noFill/>
          </a:ln>
          <a:gradFill>
            <a:gsLst>
              <a:gs pos="0">
                <a:srgbClr val="5A4FB5"/>
              </a:gs>
              <a:gs pos="50000">
                <a:srgbClr val="7171D3"/>
              </a:gs>
              <a:gs pos="100000">
                <a:srgbClr val="77BCCC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2011680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6B6B80"/>
                </a:solidFill>
                <a:latin typeface="Inter"/>
              </a:defRPr>
            </a:pPr>
            <a:r>
              <a:t>04 — TOKENS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1A1A2E"/>
                </a:solidFill>
                <a:latin typeface="DM Sans"/>
              </a:defRPr>
            </a:pPr>
            <a:r>
              <a:t>Radii &amp; Shadows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6B6B80"/>
                </a:solidFill>
                <a:latin typeface="Inter"/>
              </a:defRPr>
            </a:pPr>
            <a:r>
              <a:t>Generous rounding and soft, layered shadows create a friendly, approachable aesthetic.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7171D3"/>
                </a:solidFill>
                <a:latin typeface="Inter"/>
              </a:defRPr>
            </a:pPr>
            <a:r>
              <a:t>BORDER RADIUS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651760"/>
            <a:ext cx="914400" cy="914400"/>
          </a:xfrm>
          <a:prstGeom prst="roundRect">
            <a:avLst/>
          </a:prstGeom>
          <a:ln>
            <a:noFill/>
          </a:ln>
          <a:gradFill>
            <a:gsLst>
              <a:gs pos="0">
                <a:srgbClr val="5A4FB5"/>
              </a:gs>
              <a:gs pos="100000">
                <a:srgbClr val="7171D3"/>
              </a:gs>
            </a:gsLst>
            <a:lin ang="81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1A1A2E"/>
                </a:solidFill>
                <a:latin typeface="Courier New"/>
              </a:defRPr>
            </a:pPr>
            <a:r>
              <a:t>8px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84048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6B6B80"/>
                </a:solidFill>
                <a:latin typeface="Inter"/>
              </a:defRPr>
            </a:pPr>
            <a:r>
              <a:t>Buttons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60320" y="2651760"/>
            <a:ext cx="914400" cy="914400"/>
          </a:xfrm>
          <a:prstGeom prst="roundRect">
            <a:avLst/>
          </a:prstGeom>
          <a:ln>
            <a:noFill/>
          </a:ln>
          <a:gradFill>
            <a:gsLst>
              <a:gs pos="0">
                <a:srgbClr val="5A4FB5"/>
              </a:gs>
              <a:gs pos="100000">
                <a:srgbClr val="7171D3"/>
              </a:gs>
            </a:gsLst>
            <a:lin ang="81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60320" y="365760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1A1A2E"/>
                </a:solidFill>
                <a:latin typeface="Courier New"/>
              </a:defRPr>
            </a:pPr>
            <a:r>
              <a:t>12px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384048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6B6B80"/>
                </a:solidFill>
                <a:latin typeface="Inter"/>
              </a:defRPr>
            </a:pPr>
            <a:r>
              <a:t>Inner cards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2651760"/>
            <a:ext cx="914400" cy="914400"/>
          </a:xfrm>
          <a:prstGeom prst="roundRect">
            <a:avLst/>
          </a:prstGeom>
          <a:ln>
            <a:noFill/>
          </a:ln>
          <a:gradFill>
            <a:gsLst>
              <a:gs pos="0">
                <a:srgbClr val="5A4FB5"/>
              </a:gs>
              <a:gs pos="100000">
                <a:srgbClr val="7171D3"/>
              </a:gs>
            </a:gsLst>
            <a:lin ang="81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365760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1A1A2E"/>
                </a:solidFill>
                <a:latin typeface="Courier New"/>
              </a:defRPr>
            </a:pPr>
            <a:r>
              <a:t>16px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384048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6B6B80"/>
                </a:solidFill>
                <a:latin typeface="Inter"/>
              </a:defRPr>
            </a:pPr>
            <a:r>
              <a:t>Nav, cards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651760"/>
            <a:ext cx="914400" cy="914400"/>
          </a:xfrm>
          <a:prstGeom prst="roundRect">
            <a:avLst/>
          </a:prstGeom>
          <a:ln>
            <a:noFill/>
          </a:ln>
          <a:gradFill>
            <a:gsLst>
              <a:gs pos="0">
                <a:srgbClr val="5A4FB5"/>
              </a:gs>
              <a:gs pos="100000">
                <a:srgbClr val="7171D3"/>
              </a:gs>
            </a:gsLst>
            <a:lin ang="81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365760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1A1A2E"/>
                </a:solidFill>
                <a:latin typeface="Courier New"/>
              </a:defRPr>
            </a:pPr>
            <a:r>
              <a:t>20px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384048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6B6B80"/>
                </a:solidFill>
                <a:latin typeface="Inter"/>
              </a:defRPr>
            </a:pPr>
            <a:r>
              <a:t>Offer cards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2651760"/>
            <a:ext cx="914400" cy="914400"/>
          </a:xfrm>
          <a:prstGeom prst="roundRect">
            <a:avLst/>
          </a:prstGeom>
          <a:ln>
            <a:noFill/>
          </a:ln>
          <a:gradFill>
            <a:gsLst>
              <a:gs pos="0">
                <a:srgbClr val="5A4FB5"/>
              </a:gs>
              <a:gs pos="100000">
                <a:srgbClr val="7171D3"/>
              </a:gs>
            </a:gsLst>
            <a:lin ang="81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0" y="365760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1A1A2E"/>
                </a:solidFill>
                <a:latin typeface="Courier New"/>
              </a:defRPr>
            </a:pPr>
            <a:r>
              <a:t>30px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384048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6B6B80"/>
                </a:solidFill>
                <a:latin typeface="Inter"/>
              </a:defRPr>
            </a:pPr>
            <a:r>
              <a:t>Blob button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875520" y="2651760"/>
            <a:ext cx="914400" cy="914400"/>
          </a:xfrm>
          <a:prstGeom prst="roundRect">
            <a:avLst/>
          </a:prstGeom>
          <a:ln>
            <a:noFill/>
          </a:ln>
          <a:gradFill>
            <a:gsLst>
              <a:gs pos="0">
                <a:srgbClr val="5A4FB5"/>
              </a:gs>
              <a:gs pos="100000">
                <a:srgbClr val="7171D3"/>
              </a:gs>
            </a:gsLst>
            <a:lin ang="81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75520" y="365760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1A1A2E"/>
                </a:solidFill>
                <a:latin typeface="Courier New"/>
              </a:defRPr>
            </a:pPr>
            <a:r>
              <a:t>999px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75520" y="384048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6B6B80"/>
                </a:solidFill>
                <a:latin typeface="Inter"/>
              </a:defRPr>
            </a:pPr>
            <a:r>
              <a:t>Pills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3891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7171D3"/>
                </a:solidFill>
                <a:latin typeface="Inter"/>
              </a:defRPr>
            </a:pPr>
            <a:r>
              <a:t>BOX SHADOWS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4754880"/>
            <a:ext cx="237744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800600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A1A2E"/>
                </a:solidFill>
                <a:latin typeface="DM Sans"/>
              </a:defRPr>
            </a:pPr>
            <a:r>
              <a:t>Subtle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5029200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 i="0">
                <a:solidFill>
                  <a:srgbClr val="6B6B80"/>
                </a:solidFill>
                <a:latin typeface="Courier New"/>
              </a:defRPr>
            </a:pPr>
            <a:r>
              <a:t>0 2px 8px rgba(0,0,0,0.04)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5230368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6B6B80"/>
                </a:solidFill>
                <a:latin typeface="Inter"/>
              </a:defRPr>
            </a:pPr>
            <a:r>
              <a:t>Cards resting state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474720" y="4754880"/>
            <a:ext cx="237744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11880" y="4800600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A1A2E"/>
                </a:solidFill>
                <a:latin typeface="DM Sans"/>
              </a:defRPr>
            </a:pPr>
            <a:r>
              <a:t>Medium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11880" y="5029200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 i="0">
                <a:solidFill>
                  <a:srgbClr val="6B6B80"/>
                </a:solidFill>
                <a:latin typeface="Courier New"/>
              </a:defRPr>
            </a:pPr>
            <a:r>
              <a:t>0 4px 24px rgba(0,0,0,0.04)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11880" y="5230368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6B6B80"/>
                </a:solidFill>
                <a:latin typeface="Inter"/>
              </a:defRPr>
            </a:pPr>
            <a:r>
              <a:t>Navigation bar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0" y="4754880"/>
            <a:ext cx="237744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55080" y="4800600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A1A2E"/>
                </a:solidFill>
                <a:latin typeface="DM Sans"/>
              </a:defRPr>
            </a:pPr>
            <a:r>
              <a:t>Elevated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55080" y="5029200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 i="0">
                <a:solidFill>
                  <a:srgbClr val="6B6B80"/>
                </a:solidFill>
                <a:latin typeface="Courier New"/>
              </a:defRPr>
            </a:pPr>
            <a:r>
              <a:t>0 16px 48px rgba(0,0,0,0.08)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5080" y="5230368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6B6B80"/>
                </a:solidFill>
                <a:latin typeface="Inter"/>
              </a:defRPr>
            </a:pPr>
            <a:r>
              <a:t>Card hover state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961120" y="4754880"/>
            <a:ext cx="237744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098280" y="4800600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A1A2E"/>
                </a:solidFill>
                <a:latin typeface="DM Sans"/>
              </a:defRPr>
            </a:pPr>
            <a:r>
              <a:t>Purple Glow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98280" y="5029200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 i="0">
                <a:solidFill>
                  <a:srgbClr val="6B6B80"/>
                </a:solidFill>
                <a:latin typeface="Courier New"/>
              </a:defRPr>
            </a:pPr>
            <a:r>
              <a:t>0 20px 50px rgba(113,113,211,0.12)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98280" y="5230368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6B6B80"/>
                </a:solidFill>
                <a:latin typeface="Inter"/>
              </a:defRPr>
            </a:pPr>
            <a:r>
              <a:t>Testimonial hover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277295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 i="0">
                <a:solidFill>
                  <a:srgbClr val="6B6B80"/>
                </a:solidFill>
                <a:latin typeface="Inter"/>
              </a:defRPr>
            </a:pPr>
            <a:r>
              <a:t>06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63093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6B6B80"/>
                </a:solidFill>
                <a:latin typeface="Inter"/>
              </a:defRPr>
            </a:pPr>
            <a:r>
              <a:t>Sidequest — Design Guidelines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ln>
            <a:noFill/>
          </a:ln>
          <a:gradFill>
            <a:gsLst>
              <a:gs pos="0">
                <a:srgbClr val="77BCCC"/>
              </a:gs>
              <a:gs pos="50000">
                <a:srgbClr val="7171D3"/>
              </a:gs>
              <a:gs pos="100000">
                <a:srgbClr val="5A4FB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2011680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6B6B80"/>
                </a:solidFill>
                <a:latin typeface="Inter"/>
              </a:defRPr>
            </a:pPr>
            <a:r>
              <a:t>05 — ATMOSPHERE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1A1A2E"/>
                </a:solidFill>
                <a:latin typeface="DM Sans"/>
              </a:defRPr>
            </a:pPr>
            <a:r>
              <a:t>Gradients &amp; Backgrounds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6B6B80"/>
                </a:solidFill>
                <a:latin typeface="Inter"/>
              </a:defRPr>
            </a:pPr>
            <a:r>
              <a:t>Organic animated gradient blobs create an immersive atmosphere on hero and contact sections.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86000"/>
            <a:ext cx="2560320" cy="1280160"/>
          </a:xfrm>
          <a:prstGeom prst="roundRect">
            <a:avLst/>
          </a:prstGeom>
          <a:ln>
            <a:noFill/>
          </a:ln>
          <a:gradFill>
            <a:gsLst>
              <a:gs pos="0">
                <a:srgbClr val="5A4FB5"/>
              </a:gs>
              <a:gs pos="35000">
                <a:srgbClr val="7A6FD0"/>
              </a:gs>
              <a:gs pos="65000">
                <a:srgbClr val="8A7ED8"/>
              </a:gs>
              <a:gs pos="100000">
                <a:srgbClr val="77BCCC"/>
              </a:gs>
            </a:gsLst>
            <a:lin ang="81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A1A2E"/>
                </a:solidFill>
                <a:latin typeface="DM Sans"/>
              </a:defRPr>
            </a:pPr>
            <a:r>
              <a:t>Hero Base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8862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6B6B80"/>
                </a:solidFill>
                <a:latin typeface="Inter"/>
              </a:defRPr>
            </a:pPr>
            <a:r>
              <a:t>#5A4FB5 base + 6 animated blobs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40" y="2286000"/>
            <a:ext cx="2560320" cy="1280160"/>
          </a:xfrm>
          <a:prstGeom prst="roundRect">
            <a:avLst/>
          </a:prstGeom>
          <a:ln>
            <a:noFill/>
          </a:ln>
          <a:gradFill>
            <a:gsLst>
              <a:gs pos="0">
                <a:srgbClr val="8A7ED8"/>
              </a:gs>
              <a:gs pos="100000">
                <a:srgbClr val="6E63C7"/>
              </a:gs>
            </a:gsLst>
            <a:lin ang="81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0440" y="365760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A1A2E"/>
                </a:solidFill>
                <a:latin typeface="DM Sans"/>
              </a:defRPr>
            </a:pPr>
            <a:r>
              <a:t>Purple Sweep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38862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6B6B80"/>
                </a:solidFill>
                <a:latin typeface="Inter"/>
              </a:defRPr>
            </a:pPr>
            <a:r>
              <a:t>Primary blob gradient for large flowing shapes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2286000"/>
            <a:ext cx="2560320" cy="1280160"/>
          </a:xfrm>
          <a:prstGeom prst="roundRect">
            <a:avLst/>
          </a:prstGeom>
          <a:ln>
            <a:noFill/>
          </a:ln>
          <a:gradFill>
            <a:gsLst>
              <a:gs pos="0">
                <a:srgbClr val="7A6FD0"/>
              </a:gs>
              <a:gs pos="100000">
                <a:srgbClr val="5FB3C4"/>
              </a:gs>
            </a:gsLst>
            <a:lin ang="96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365760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A1A2E"/>
                </a:solidFill>
                <a:latin typeface="DM Sans"/>
              </a:defRPr>
            </a:pPr>
            <a:r>
              <a:t>Purple → Teal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38862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6B6B80"/>
                </a:solidFill>
                <a:latin typeface="Inter"/>
              </a:defRPr>
            </a:pPr>
            <a:r>
              <a:t>Transition gradient in flowing blob shapes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98280" y="2286000"/>
            <a:ext cx="2560320" cy="1280160"/>
          </a:xfrm>
          <a:prstGeom prst="roundRect">
            <a:avLst/>
          </a:prstGeom>
          <a:ln>
            <a:noFill/>
          </a:ln>
          <a:gradFill>
            <a:gsLst>
              <a:gs pos="0">
                <a:srgbClr val="A3D5E0"/>
              </a:gs>
              <a:gs pos="100000">
                <a:srgbClr val="77BCCC"/>
              </a:gs>
            </a:gsLst>
            <a:lin ang="120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98280" y="365760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A1A2E"/>
                </a:solidFill>
                <a:latin typeface="DM Sans"/>
              </a:defRPr>
            </a:pPr>
            <a:r>
              <a:t>Turquoise Sweep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98280" y="38862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6B6B80"/>
                </a:solidFill>
                <a:latin typeface="Inter"/>
              </a:defRPr>
            </a:pPr>
            <a:r>
              <a:t>Bottom blobs for coolness and balance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6634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7171D3"/>
                </a:solidFill>
                <a:latin typeface="Inter"/>
              </a:defRPr>
            </a:pPr>
            <a:r>
              <a:t>BACKGROUND TEXTURES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029200"/>
            <a:ext cx="256032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074920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7171D3"/>
                </a:solidFill>
                <a:latin typeface="Inter"/>
              </a:defRPr>
            </a:pPr>
            <a:r>
              <a:t>Noise Overlay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285232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A1A2E"/>
                </a:solidFill>
                <a:latin typeface="Courier New"/>
              </a:defRPr>
            </a:pPr>
            <a:r>
              <a:t>fractalNoise, 0.85 baseFreq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4864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6B6B80"/>
                </a:solidFill>
                <a:latin typeface="Inter"/>
              </a:defRPr>
            </a:pPr>
            <a:r>
              <a:t>SVG filter at 6% opacity over gradients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520440" y="5029200"/>
            <a:ext cx="256032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03320" y="5074920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7171D3"/>
                </a:solidFill>
                <a:latin typeface="Inter"/>
              </a:defRPr>
            </a:pPr>
            <a:r>
              <a:t>Grid Pattern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03320" y="5285232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A1A2E"/>
                </a:solidFill>
                <a:latin typeface="Courier New"/>
              </a:defRPr>
            </a:pPr>
            <a:r>
              <a:t>32px × 32px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03320" y="54864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6B6B80"/>
                </a:solidFill>
                <a:latin typeface="Inter"/>
              </a:defRPr>
            </a:pPr>
            <a:r>
              <a:t>White 10% opacity lines with radial mask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09360" y="5029200"/>
            <a:ext cx="256032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5074920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7171D3"/>
                </a:solidFill>
                <a:latin typeface="Inter"/>
              </a:defRPr>
            </a:pPr>
            <a:r>
              <a:t>Glassmorphism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5285232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A1A2E"/>
                </a:solidFill>
                <a:latin typeface="Courier New"/>
              </a:defRPr>
            </a:pPr>
            <a:r>
              <a:t>blur(16px), white 55%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54864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6B6B80"/>
                </a:solidFill>
                <a:latin typeface="Inter"/>
              </a:defRPr>
            </a:pPr>
            <a:r>
              <a:t>Navigation bar floating over hero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098280" y="5029200"/>
            <a:ext cx="256032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81160" y="5074920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7171D3"/>
                </a:solidFill>
                <a:latin typeface="Inter"/>
              </a:defRPr>
            </a:pPr>
            <a:r>
              <a:t>Bubbles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81160" y="5285232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A1A2E"/>
                </a:solidFill>
                <a:latin typeface="Courier New"/>
              </a:defRPr>
            </a:pPr>
            <a:r>
              <a:t>8px–22px circles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81160" y="54864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6B6B80"/>
                </a:solidFill>
                <a:latin typeface="Inter"/>
              </a:defRPr>
            </a:pPr>
            <a:r>
              <a:t>Animated floating bubbles with ease-in-out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277295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 i="0">
                <a:solidFill>
                  <a:srgbClr val="6B6B80"/>
                </a:solidFill>
                <a:latin typeface="Inter"/>
              </a:defRPr>
            </a:pPr>
            <a:r>
              <a:t>07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63093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6B6B80"/>
                </a:solidFill>
                <a:latin typeface="Inter"/>
              </a:defRPr>
            </a:pPr>
            <a:r>
              <a:t>Sidequest — Design Guidelines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ln>
            <a:noFill/>
          </a:ln>
          <a:gradFill>
            <a:gsLst>
              <a:gs pos="0">
                <a:srgbClr val="5A4FB5"/>
              </a:gs>
              <a:gs pos="50000">
                <a:srgbClr val="7171D3"/>
              </a:gs>
              <a:gs pos="100000">
                <a:srgbClr val="77BCCC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2011680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6B6B80"/>
                </a:solidFill>
                <a:latin typeface="Inter"/>
              </a:defRPr>
            </a:pPr>
            <a:r>
              <a:t>06 —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1A1A2E"/>
                </a:solidFill>
                <a:latin typeface="DM Sans"/>
              </a:defRPr>
            </a:pPr>
            <a:r>
              <a:t>Spacing &amp; Layout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6B6B80"/>
                </a:solidFill>
                <a:latin typeface="Inter"/>
              </a:defRPr>
            </a:pPr>
            <a:r>
              <a:t>A consistent spatial system creates rhythm. Content maxes at 1200px with generous section padding.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7171D3"/>
                </a:solidFill>
                <a:latin typeface="Inter"/>
              </a:defRPr>
            </a:pPr>
            <a:r>
              <a:t>LAYOUT TOKENS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651760"/>
            <a:ext cx="5029200" cy="411480"/>
          </a:xfrm>
          <a:prstGeom prst="roundRect">
            <a:avLst/>
          </a:prstGeom>
          <a:solidFill>
            <a:srgbClr val="F4F4F8"/>
          </a:solidFill>
          <a:ln w="12700">
            <a:solidFill>
              <a:srgbClr val="E8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697480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7171D3"/>
                </a:solidFill>
                <a:latin typeface="Inter"/>
              </a:defRPr>
            </a:pPr>
            <a:r>
              <a:t>Max Content Width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269748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A1A2E"/>
                </a:solidFill>
                <a:latin typeface="Courier New"/>
              </a:defRPr>
            </a:pPr>
            <a:r>
              <a:t>1200px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154680"/>
            <a:ext cx="5029200" cy="411480"/>
          </a:xfrm>
          <a:prstGeom prst="roundRect">
            <a:avLst/>
          </a:prstGeom>
          <a:solidFill>
            <a:srgbClr val="F4F4F8"/>
          </a:solidFill>
          <a:ln w="12700">
            <a:solidFill>
              <a:srgbClr val="E8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200400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7171D3"/>
                </a:solidFill>
                <a:latin typeface="Inter"/>
              </a:defRPr>
            </a:pPr>
            <a:r>
              <a:t>Nav Height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320040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A1A2E"/>
                </a:solidFill>
                <a:latin typeface="Courier New"/>
              </a:defRPr>
            </a:pPr>
            <a:r>
              <a:t>72px desktop / 56px mobile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657600"/>
            <a:ext cx="5029200" cy="411480"/>
          </a:xfrm>
          <a:prstGeom prst="roundRect">
            <a:avLst/>
          </a:prstGeom>
          <a:solidFill>
            <a:srgbClr val="F4F4F8"/>
          </a:solidFill>
          <a:ln w="12700">
            <a:solidFill>
              <a:srgbClr val="E8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703320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7171D3"/>
                </a:solidFill>
                <a:latin typeface="Inter"/>
              </a:defRPr>
            </a:pPr>
            <a:r>
              <a:t>Section Padding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370332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A1A2E"/>
                </a:solidFill>
                <a:latin typeface="Courier New"/>
              </a:defRPr>
            </a:pPr>
            <a:r>
              <a:t>100px top, 120px bottom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160520"/>
            <a:ext cx="5029200" cy="411480"/>
          </a:xfrm>
          <a:prstGeom prst="roundRect">
            <a:avLst/>
          </a:prstGeom>
          <a:solidFill>
            <a:srgbClr val="F4F4F8"/>
          </a:solidFill>
          <a:ln w="12700">
            <a:solidFill>
              <a:srgbClr val="E8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206240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7171D3"/>
                </a:solidFill>
                <a:latin typeface="Inter"/>
              </a:defRPr>
            </a:pPr>
            <a:r>
              <a:t>Horizontal Padding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420624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A1A2E"/>
                </a:solidFill>
                <a:latin typeface="Courier New"/>
              </a:defRPr>
            </a:pPr>
            <a:r>
              <a:t>40px desktop / 20px mobile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663440"/>
            <a:ext cx="5029200" cy="411480"/>
          </a:xfrm>
          <a:prstGeom prst="roundRect">
            <a:avLst/>
          </a:prstGeom>
          <a:solidFill>
            <a:srgbClr val="F4F4F8"/>
          </a:solidFill>
          <a:ln w="12700">
            <a:solidFill>
              <a:srgbClr val="E8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709160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7171D3"/>
                </a:solidFill>
                <a:latin typeface="Inter"/>
              </a:defRPr>
            </a:pPr>
            <a:r>
              <a:t>Grid Gap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17520" y="470916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A1A2E"/>
                </a:solidFill>
                <a:latin typeface="Courier New"/>
              </a:defRPr>
            </a:pPr>
            <a:r>
              <a:t>20px – 24px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2860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7171D3"/>
                </a:solidFill>
                <a:latin typeface="Inter"/>
              </a:defRPr>
            </a:pPr>
            <a:r>
              <a:t>GRID SYSTEMS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2651760"/>
            <a:ext cx="5029200" cy="502920"/>
          </a:xfrm>
          <a:prstGeom prst="roundRect">
            <a:avLst/>
          </a:prstGeom>
          <a:solidFill>
            <a:srgbClr val="F4F4F8"/>
          </a:solidFill>
          <a:ln w="12700">
            <a:solidFill>
              <a:srgbClr val="E8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0" y="2670048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7171D3"/>
                </a:solidFill>
                <a:latin typeface="Inter"/>
              </a:defRPr>
            </a:pPr>
            <a:r>
              <a:t>Offers Grid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2852928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A1A2E"/>
                </a:solidFill>
                <a:latin typeface="Courier New"/>
              </a:defRPr>
            </a:pPr>
            <a:r>
              <a:t>3 columns, 20px gap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0" y="278892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6B6B80"/>
                </a:solidFill>
                <a:latin typeface="Inter"/>
              </a:defRPr>
            </a:pPr>
            <a:r>
              <a:t>→ 1 col on mobile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3246120"/>
            <a:ext cx="5029200" cy="502920"/>
          </a:xfrm>
          <a:prstGeom prst="roundRect">
            <a:avLst/>
          </a:prstGeom>
          <a:solidFill>
            <a:srgbClr val="F4F4F8"/>
          </a:solidFill>
          <a:ln w="12700">
            <a:solidFill>
              <a:srgbClr val="E8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0" y="3264408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7171D3"/>
                </a:solidFill>
                <a:latin typeface="Inter"/>
              </a:defRPr>
            </a:pPr>
            <a:r>
              <a:t>Testimonials Grid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3447288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A1A2E"/>
                </a:solidFill>
                <a:latin typeface="Courier New"/>
              </a:defRPr>
            </a:pPr>
            <a:r>
              <a:t>3 cols + auto-rows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18320" y="338328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6B6B80"/>
                </a:solidFill>
                <a:latin typeface="Inter"/>
              </a:defRPr>
            </a:pPr>
            <a:r>
              <a:t>Equal height, 1 col mobile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3840480"/>
            <a:ext cx="5029200" cy="502920"/>
          </a:xfrm>
          <a:prstGeom prst="roundRect">
            <a:avLst/>
          </a:prstGeom>
          <a:solidFill>
            <a:srgbClr val="F4F4F8"/>
          </a:solidFill>
          <a:ln w="12700">
            <a:solidFill>
              <a:srgbClr val="E8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0" y="3858768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7171D3"/>
                </a:solidFill>
                <a:latin typeface="Inter"/>
              </a:defRPr>
            </a:pPr>
            <a:r>
              <a:t>Benefits Track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4041648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A1A2E"/>
                </a:solidFill>
                <a:latin typeface="Courier New"/>
              </a:defRPr>
            </a:pPr>
            <a:r>
              <a:t>Horizontal scroll, 240px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18320" y="397764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6B6B80"/>
                </a:solidFill>
                <a:latin typeface="Inter"/>
              </a:defRPr>
            </a:pPr>
            <a:r>
              <a:t>Snap alignment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0" y="4434840"/>
            <a:ext cx="5029200" cy="502920"/>
          </a:xfrm>
          <a:prstGeom prst="roundRect">
            <a:avLst/>
          </a:prstGeom>
          <a:solidFill>
            <a:srgbClr val="F4F4F8"/>
          </a:solidFill>
          <a:ln w="12700">
            <a:solidFill>
              <a:srgbClr val="E8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80" y="4453128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7171D3"/>
                </a:solidFill>
                <a:latin typeface="Inter"/>
              </a:defRPr>
            </a:pPr>
            <a:r>
              <a:t>Contact Layout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0" y="4636008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A1A2E"/>
                </a:solidFill>
                <a:latin typeface="Courier New"/>
              </a:defRPr>
            </a:pPr>
            <a:r>
              <a:t>2-column split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18320" y="457200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6B6B80"/>
                </a:solidFill>
                <a:latin typeface="Inter"/>
              </a:defRPr>
            </a:pPr>
            <a:r>
              <a:t>Stacks on mobile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77295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 i="0">
                <a:solidFill>
                  <a:srgbClr val="6B6B80"/>
                </a:solidFill>
                <a:latin typeface="Inter"/>
              </a:defRPr>
            </a:pPr>
            <a:r>
              <a:t>08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63093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6B6B80"/>
                </a:solidFill>
                <a:latin typeface="Inter"/>
              </a:defRPr>
            </a:pPr>
            <a:r>
              <a:t>Sidequest — Design Guidelines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ln>
            <a:noFill/>
          </a:ln>
          <a:gradFill>
            <a:gsLst>
              <a:gs pos="0">
                <a:srgbClr val="77BCCC"/>
              </a:gs>
              <a:gs pos="50000">
                <a:srgbClr val="7171D3"/>
              </a:gs>
              <a:gs pos="100000">
                <a:srgbClr val="5A4FB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2011680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6B6B80"/>
                </a:solidFill>
                <a:latin typeface="Inter"/>
              </a:defRPr>
            </a:pPr>
            <a:r>
              <a:t>07 — COMPONENTS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1A1A2E"/>
                </a:solidFill>
                <a:latin typeface="DM Sans"/>
              </a:defRPr>
            </a:pPr>
            <a:r>
              <a:t>UI Components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6B6B80"/>
                </a:solidFill>
                <a:latin typeface="Inter"/>
              </a:defRPr>
            </a:pPr>
            <a:r>
              <a:t>Reusable building blocks that maintain consistency across the experience.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86000"/>
            <a:ext cx="338328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42316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7171D3"/>
                </a:solidFill>
                <a:latin typeface="Inter"/>
              </a:defRPr>
            </a:pPr>
            <a:r>
              <a:t>NAVIGATION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6517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A1A2E"/>
                </a:solidFill>
                <a:latin typeface="DM Sans"/>
              </a:defRPr>
            </a:pPr>
            <a:r>
              <a:t>Floating Nav Bar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97180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6B6B80"/>
                </a:solidFill>
                <a:latin typeface="Inter"/>
              </a:defRPr>
            </a:pPr>
            <a:r>
              <a:t>Fixed position, glassmorphism (blur 16px). 16px from top, 16px radius. Auto-hides on scroll down, shows on up.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286000"/>
            <a:ext cx="338328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242316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7171D3"/>
                </a:solidFill>
                <a:latin typeface="Inter"/>
              </a:defRPr>
            </a:pPr>
            <a:r>
              <a:t>CARD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6517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A1A2E"/>
                </a:solidFill>
                <a:latin typeface="DM Sans"/>
              </a:defRPr>
            </a:pPr>
            <a:r>
              <a:t>Offer Card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97180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6B6B80"/>
                </a:solidFill>
                <a:latin typeface="Inter"/>
              </a:defRPr>
            </a:pPr>
            <a:r>
              <a:t>Gray-100 bg, 1px border, 20px radius. Icon + title + desc + animated illustration. Lifts -4px on hover.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2286000"/>
            <a:ext cx="338328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242316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7171D3"/>
                </a:solidFill>
                <a:latin typeface="Inter"/>
              </a:defRPr>
            </a:pPr>
            <a:r>
              <a:t>CARD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26517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A1A2E"/>
                </a:solidFill>
                <a:latin typeface="DM Sans"/>
              </a:defRPr>
            </a:pPr>
            <a:r>
              <a:t>Testimonial Card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297180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6B6B80"/>
                </a:solidFill>
                <a:latin typeface="Inter"/>
              </a:defRPr>
            </a:pPr>
            <a:r>
              <a:t>White bg, 16px radius. Tilts on hover (-1deg odd, +1deg even) with purple glow shadow.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389120"/>
            <a:ext cx="338328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52628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7171D3"/>
                </a:solidFill>
                <a:latin typeface="Inter"/>
              </a:defRPr>
            </a:pPr>
            <a:r>
              <a:t>CARD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7548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A1A2E"/>
                </a:solidFill>
                <a:latin typeface="DM Sans"/>
              </a:defRPr>
            </a:pPr>
            <a:r>
              <a:t>Benefit Card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507492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6B6B80"/>
                </a:solidFill>
                <a:latin typeface="Inter"/>
              </a:defRPr>
            </a:pPr>
            <a:r>
              <a:t>240px wide, 1:1 gradient visual. Layered blurred shapes + noise + semi-transparent icon. Scroll carousel.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0" y="4389120"/>
            <a:ext cx="338328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17720" y="452628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7171D3"/>
                </a:solidFill>
                <a:latin typeface="Inter"/>
              </a:defRPr>
            </a:pPr>
            <a:r>
              <a:t>INTERACTIVE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17720" y="47548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A1A2E"/>
                </a:solidFill>
                <a:latin typeface="DM Sans"/>
              </a:defRPr>
            </a:pPr>
            <a:r>
              <a:t>FAQ Accordion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7720" y="507492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6B6B80"/>
                </a:solidFill>
                <a:latin typeface="Inter"/>
              </a:defRPr>
            </a:pPr>
            <a:r>
              <a:t>Chevron rotates 180° on expand. Animated max-height reveal. Dashed border separators.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20" y="4389120"/>
            <a:ext cx="338328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75320" y="452628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7171D3"/>
                </a:solidFill>
                <a:latin typeface="Inter"/>
              </a:defRPr>
            </a:pPr>
            <a:r>
              <a:t>FORM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20" y="47548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A1A2E"/>
                </a:solidFill>
                <a:latin typeface="DM Sans"/>
              </a:defRPr>
            </a:pPr>
            <a:r>
              <a:t>Contact Form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20" y="507492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6B6B80"/>
                </a:solidFill>
                <a:latin typeface="Inter"/>
              </a:defRPr>
            </a:pPr>
            <a:r>
              <a:t>White card on gradient bg. 10px radius inputs, purple focus ring. Custom checkmarks. Blob submit button.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77295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 i="0">
                <a:solidFill>
                  <a:srgbClr val="6B6B80"/>
                </a:solidFill>
                <a:latin typeface="Inter"/>
              </a:defRPr>
            </a:pPr>
            <a:r>
              <a:t>09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3093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6B6B80"/>
                </a:solidFill>
                <a:latin typeface="Inter"/>
              </a:defRPr>
            </a:pPr>
            <a:r>
              <a:t>Sidequest — Design Guidelines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ln>
            <a:noFill/>
          </a:ln>
          <a:gradFill>
            <a:gsLst>
              <a:gs pos="0">
                <a:srgbClr val="5A4FB5"/>
              </a:gs>
              <a:gs pos="50000">
                <a:srgbClr val="7171D3"/>
              </a:gs>
              <a:gs pos="100000">
                <a:srgbClr val="77BCCC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2011680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6B6B80"/>
                </a:solidFill>
                <a:latin typeface="Inter"/>
              </a:defRPr>
            </a:pPr>
            <a:r>
              <a:t>08 — MOTION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1A1A2E"/>
                </a:solidFill>
                <a:latin typeface="DM Sans"/>
              </a:defRPr>
            </a:pPr>
            <a:r>
              <a:t>Interactions &amp; Animation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6B6B80"/>
                </a:solidFill>
                <a:latin typeface="Inter"/>
              </a:defRPr>
            </a:pPr>
            <a:r>
              <a:t>Purposeful, playful motion reinforces the brand.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86000"/>
            <a:ext cx="411480" cy="411480"/>
          </a:xfrm>
          <a:prstGeom prst="roundRect">
            <a:avLst/>
          </a:prstGeom>
          <a:ln>
            <a:noFill/>
          </a:ln>
          <a:gradFill>
            <a:gsLst>
              <a:gs pos="0">
                <a:srgbClr val="5A4FB5"/>
              </a:gs>
              <a:gs pos="100000">
                <a:srgbClr val="7171D3"/>
              </a:gs>
            </a:gsLst>
            <a:lin ang="81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2286000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1A1A2E"/>
                </a:solidFill>
                <a:latin typeface="DM Sans"/>
              </a:defRPr>
            </a:pPr>
            <a:r>
              <a:t>Card Hover Lift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51460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6B6B80"/>
                </a:solidFill>
                <a:latin typeface="Inter"/>
              </a:defRPr>
            </a:pPr>
            <a:r>
              <a:t>translateY(-4px to -8px) with eased shadow. 0.3s–0.4s cubic-bezier timing.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286000"/>
            <a:ext cx="411480" cy="411480"/>
          </a:xfrm>
          <a:prstGeom prst="roundRect">
            <a:avLst/>
          </a:prstGeom>
          <a:ln>
            <a:noFill/>
          </a:ln>
          <a:gradFill>
            <a:gsLst>
              <a:gs pos="0">
                <a:srgbClr val="5A4FB5"/>
              </a:gs>
              <a:gs pos="100000">
                <a:srgbClr val="7171D3"/>
              </a:gs>
            </a:gsLst>
            <a:lin ang="81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0" y="2286000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1A1A2E"/>
                </a:solidFill>
                <a:latin typeface="DM Sans"/>
              </a:defRPr>
            </a:pPr>
            <a:r>
              <a:t>CSS Mask Reveal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251460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6B6B80"/>
                </a:solidFill>
                <a:latin typeface="Inter"/>
              </a:defRPr>
            </a:pPr>
            <a:r>
              <a:t>Sprite-based mask animation. Urban pattern, 30 frames at 0.7s on buttons.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291840"/>
            <a:ext cx="411480" cy="411480"/>
          </a:xfrm>
          <a:prstGeom prst="roundRect">
            <a:avLst/>
          </a:prstGeom>
          <a:ln>
            <a:noFill/>
          </a:ln>
          <a:gradFill>
            <a:gsLst>
              <a:gs pos="0">
                <a:srgbClr val="5A4FB5"/>
              </a:gs>
              <a:gs pos="100000">
                <a:srgbClr val="7171D3"/>
              </a:gs>
            </a:gsLst>
            <a:lin ang="81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0160" y="3291840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1A1A2E"/>
                </a:solidFill>
                <a:latin typeface="DM Sans"/>
              </a:defRPr>
            </a:pPr>
            <a:r>
              <a:t>Blob Button Fill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52044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6B6B80"/>
                </a:solidFill>
                <a:latin typeface="Inter"/>
              </a:defRPr>
            </a:pPr>
            <a:r>
              <a:t>SVG gooey filter, 4 purple blobs translate up on hover. Staggered delays.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3291840"/>
            <a:ext cx="411480" cy="411480"/>
          </a:xfrm>
          <a:prstGeom prst="roundRect">
            <a:avLst/>
          </a:prstGeom>
          <a:ln>
            <a:noFill/>
          </a:ln>
          <a:gradFill>
            <a:gsLst>
              <a:gs pos="0">
                <a:srgbClr val="5A4FB5"/>
              </a:gs>
              <a:gs pos="100000">
                <a:srgbClr val="7171D3"/>
              </a:gs>
            </a:gsLst>
            <a:lin ang="81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49440" y="3291840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1A1A2E"/>
                </a:solidFill>
                <a:latin typeface="DM Sans"/>
              </a:defRPr>
            </a:pPr>
            <a:r>
              <a:t>3D Cube Rotation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352044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6B6B80"/>
                </a:solidFill>
                <a:latin typeface="Inter"/>
              </a:defRPr>
            </a:pPr>
            <a:r>
              <a:t>perspective(1000px) rotateX. 4s transition. Cycles: learning, engagement, fun, impact.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297680"/>
            <a:ext cx="411480" cy="411480"/>
          </a:xfrm>
          <a:prstGeom prst="roundRect">
            <a:avLst/>
          </a:prstGeom>
          <a:ln>
            <a:noFill/>
          </a:ln>
          <a:gradFill>
            <a:gsLst>
              <a:gs pos="0">
                <a:srgbClr val="5A4FB5"/>
              </a:gs>
              <a:gs pos="100000">
                <a:srgbClr val="7171D3"/>
              </a:gs>
            </a:gsLst>
            <a:lin ang="81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80160" y="4297680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1A1A2E"/>
                </a:solidFill>
                <a:latin typeface="DM Sans"/>
              </a:defRPr>
            </a:pPr>
            <a:r>
              <a:t>Nav Bracket Corners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52628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6B6B80"/>
                </a:solidFill>
                <a:latin typeface="Inter"/>
              </a:defRPr>
            </a:pPr>
            <a:r>
              <a:t>4 corner brackets animate from offset on hover. 0.3s ease with opacity.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4297680"/>
            <a:ext cx="411480" cy="411480"/>
          </a:xfrm>
          <a:prstGeom prst="roundRect">
            <a:avLst/>
          </a:prstGeom>
          <a:ln>
            <a:noFill/>
          </a:ln>
          <a:gradFill>
            <a:gsLst>
              <a:gs pos="0">
                <a:srgbClr val="5A4FB5"/>
              </a:gs>
              <a:gs pos="100000">
                <a:srgbClr val="7171D3"/>
              </a:gs>
            </a:gsLst>
            <a:lin ang="81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49440" y="4297680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1A1A2E"/>
                </a:solidFill>
                <a:latin typeface="DM Sans"/>
              </a:defRPr>
            </a:pPr>
            <a:r>
              <a:t>Scroll-Triggered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0" y="452628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6B6B80"/>
                </a:solidFill>
                <a:latin typeface="Inter"/>
              </a:defRPr>
            </a:pPr>
            <a:r>
              <a:t>IntersectionObserver on ≤1024px. rootMargin -35% 0px. Cards gain .is-hovered class.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5303520"/>
            <a:ext cx="10698480" cy="36576"/>
          </a:xfrm>
          <a:prstGeom prst="rect">
            <a:avLst/>
          </a:prstGeom>
          <a:ln>
            <a:noFill/>
          </a:ln>
          <a:gradFill>
            <a:gsLst>
              <a:gs pos="0">
                <a:srgbClr val="5A4FB5"/>
              </a:gs>
              <a:gs pos="50000">
                <a:srgbClr val="7171D3"/>
              </a:gs>
              <a:gs pos="100000">
                <a:srgbClr val="77BCCC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54406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7171D3"/>
                </a:solidFill>
                <a:latin typeface="Inter"/>
              </a:defRPr>
            </a:pPr>
            <a:r>
              <a:t>TIMING CURVES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5715000"/>
            <a:ext cx="2560320" cy="548640"/>
          </a:xfrm>
          <a:prstGeom prst="roundRect">
            <a:avLst/>
          </a:prstGeom>
          <a:solidFill>
            <a:srgbClr val="F4F4F8"/>
          </a:solidFill>
          <a:ln w="12700">
            <a:solidFill>
              <a:srgbClr val="E8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60720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1A1A2E"/>
                </a:solidFill>
                <a:latin typeface="Inter"/>
              </a:defRPr>
            </a:pPr>
            <a:r>
              <a:t>Standard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943600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6B6B80"/>
                </a:solidFill>
                <a:latin typeface="Courier New"/>
              </a:defRPr>
            </a:pPr>
            <a:r>
              <a:t>0.2s ease  ·  Buttons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520440" y="5715000"/>
            <a:ext cx="2560320" cy="548640"/>
          </a:xfrm>
          <a:prstGeom prst="roundRect">
            <a:avLst/>
          </a:prstGeom>
          <a:solidFill>
            <a:srgbClr val="F4F4F8"/>
          </a:solidFill>
          <a:ln w="12700">
            <a:solidFill>
              <a:srgbClr val="E8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703320" y="5760720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1A1A2E"/>
                </a:solidFill>
                <a:latin typeface="Inter"/>
              </a:defRPr>
            </a:pPr>
            <a:r>
              <a:t>Smooth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03320" y="5943600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6B6B80"/>
                </a:solidFill>
                <a:latin typeface="Courier New"/>
              </a:defRPr>
            </a:pPr>
            <a:r>
              <a:t>0.3s ease  ·  Cards, nav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09360" y="5715000"/>
            <a:ext cx="2560320" cy="548640"/>
          </a:xfrm>
          <a:prstGeom prst="roundRect">
            <a:avLst/>
          </a:prstGeom>
          <a:solidFill>
            <a:srgbClr val="F4F4F8"/>
          </a:solidFill>
          <a:ln w="12700">
            <a:solidFill>
              <a:srgbClr val="E8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92240" y="5760720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1A1A2E"/>
                </a:solidFill>
                <a:latin typeface="Inter"/>
              </a:defRPr>
            </a:pPr>
            <a:r>
              <a:t>Spring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5943600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6B6B80"/>
                </a:solidFill>
                <a:latin typeface="Courier New"/>
              </a:defRPr>
            </a:pPr>
            <a:r>
              <a:t>0.4s cubic-bezier(…)  ·  Testimonials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098280" y="5715000"/>
            <a:ext cx="2560320" cy="548640"/>
          </a:xfrm>
          <a:prstGeom prst="roundRect">
            <a:avLst/>
          </a:prstGeom>
          <a:solidFill>
            <a:srgbClr val="F4F4F8"/>
          </a:solidFill>
          <a:ln w="12700">
            <a:solidFill>
              <a:srgbClr val="E8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281160" y="5760720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1A1A2E"/>
                </a:solidFill>
                <a:latin typeface="Inter"/>
              </a:defRPr>
            </a:pPr>
            <a:r>
              <a:t>Dramatic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81160" y="5943600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6B6B80"/>
                </a:solidFill>
                <a:latin typeface="Courier New"/>
              </a:defRPr>
            </a:pPr>
            <a:r>
              <a:t>4s transition  ·  Cube rotation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77295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 i="0">
                <a:solidFill>
                  <a:srgbClr val="6B6B80"/>
                </a:solidFill>
                <a:latin typeface="Inter"/>
              </a:defRPr>
            </a:pPr>
            <a:r>
              <a:t>10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63093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6B6B80"/>
                </a:solidFill>
                <a:latin typeface="Inter"/>
              </a:defRPr>
            </a:pPr>
            <a:r>
              <a:t>Sidequest — Design Guidelines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ln>
            <a:noFill/>
          </a:ln>
          <a:gradFill>
            <a:gsLst>
              <a:gs pos="0">
                <a:srgbClr val="77BCCC"/>
              </a:gs>
              <a:gs pos="50000">
                <a:srgbClr val="7171D3"/>
              </a:gs>
              <a:gs pos="100000">
                <a:srgbClr val="5A4FB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2011680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6B6B80"/>
                </a:solidFill>
                <a:latin typeface="Inter"/>
              </a:defRPr>
            </a:pPr>
            <a:r>
              <a:t>09 — RESPONSIVE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1A1A2E"/>
                </a:solidFill>
                <a:latin typeface="DM Sans"/>
              </a:defRPr>
            </a:pPr>
            <a:r>
              <a:t>Breakpoints &amp; Adaptations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6B6B80"/>
                </a:solidFill>
                <a:latin typeface="Inter"/>
              </a:defRPr>
            </a:pPr>
            <a:r>
              <a:t>Three breakpoints ensure a seamless experience from phone to desktop.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86000"/>
            <a:ext cx="2743200" cy="548640"/>
          </a:xfrm>
          <a:prstGeom prst="roundRect">
            <a:avLst/>
          </a:prstGeom>
          <a:ln>
            <a:noFill/>
          </a:ln>
          <a:gradFill>
            <a:gsLst>
              <a:gs pos="0">
                <a:srgbClr val="5A4FB5"/>
              </a:gs>
              <a:gs pos="100000">
                <a:srgbClr val="7171D3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Inter"/>
              </a:defRPr>
            </a:pPr>
            <a:r>
              <a:t>Phone ≤768px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66160" y="2286000"/>
            <a:ext cx="2926080" cy="548640"/>
          </a:xfrm>
          <a:prstGeom prst="roundRect">
            <a:avLst/>
          </a:prstGeom>
          <a:ln>
            <a:noFill/>
          </a:ln>
          <a:gradFill>
            <a:gsLst>
              <a:gs pos="0">
                <a:srgbClr val="7171D3"/>
              </a:gs>
              <a:gs pos="100000">
                <a:srgbClr val="8F8FE0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Inter"/>
              </a:defRPr>
            </a:pPr>
            <a:r>
              <a:t>Tablet 769–1024px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0" y="2286000"/>
            <a:ext cx="4846320" cy="548640"/>
          </a:xfrm>
          <a:prstGeom prst="roundRect">
            <a:avLst/>
          </a:prstGeom>
          <a:ln>
            <a:noFill/>
          </a:ln>
          <a:gradFill>
            <a:gsLst>
              <a:gs pos="0">
                <a:srgbClr val="8F8FE0"/>
              </a:gs>
              <a:gs pos="100000">
                <a:srgbClr val="77BCCC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Inter"/>
              </a:defRPr>
            </a:pPr>
            <a:r>
              <a:t>Desktop 1025px+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108960"/>
            <a:ext cx="347472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24612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7171D3"/>
                </a:solidFill>
                <a:latin typeface="Inter"/>
              </a:defRPr>
            </a:pPr>
            <a:r>
              <a:t>PHONE  ≤768px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5661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6B6B80"/>
                </a:solidFill>
                <a:latin typeface="Inter"/>
              </a:defRPr>
            </a:pPr>
            <a:r>
              <a:t>•  Nav: 56px height, logo 23px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9776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6B6B80"/>
                </a:solidFill>
                <a:latin typeface="Inter"/>
              </a:defRPr>
            </a:pPr>
            <a:r>
              <a:t>•  Single column grids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3891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6B6B80"/>
                </a:solidFill>
                <a:latin typeface="Inter"/>
              </a:defRPr>
            </a:pPr>
            <a:r>
              <a:t>•  Titles: clamp(2.6rem, 9vw, 3.6rem)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8006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6B6B80"/>
                </a:solidFill>
                <a:latin typeface="Inter"/>
              </a:defRPr>
            </a:pPr>
            <a:r>
              <a:t>•  Scroll-triggered animations active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52120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6B6B80"/>
                </a:solidFill>
                <a:latin typeface="Inter"/>
              </a:defRPr>
            </a:pPr>
            <a:r>
              <a:t>•  Mobile line breaks on titles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80559" y="3108960"/>
            <a:ext cx="347472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79" y="324612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7171D3"/>
                </a:solidFill>
                <a:latin typeface="Inter"/>
              </a:defRPr>
            </a:pPr>
            <a:r>
              <a:t>TABLET  769–1024px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79" y="35661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6B6B80"/>
                </a:solidFill>
                <a:latin typeface="Inter"/>
              </a:defRPr>
            </a:pPr>
            <a:r>
              <a:t>•  Nav: logo 27px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79" y="39776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6B6B80"/>
                </a:solidFill>
                <a:latin typeface="Inter"/>
              </a:defRPr>
            </a:pPr>
            <a:r>
              <a:t>•  3-column offer grid maintained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79" y="43891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6B6B80"/>
                </a:solidFill>
                <a:latin typeface="Inter"/>
              </a:defRPr>
            </a:pPr>
            <a:r>
              <a:t>•  Cube: 240px × 52px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79" y="48006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6B6B80"/>
                </a:solidFill>
                <a:latin typeface="Inter"/>
              </a:defRPr>
            </a:pPr>
            <a:r>
              <a:t>•  Scroll-triggered animations active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79" y="52120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6B6B80"/>
                </a:solidFill>
                <a:latin typeface="Inter"/>
              </a:defRPr>
            </a:pPr>
            <a:r>
              <a:t>•  Status badge margin-top: 40px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598" y="3108960"/>
            <a:ext cx="347472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03918" y="324612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7171D3"/>
                </a:solidFill>
                <a:latin typeface="Inter"/>
              </a:defRPr>
            </a:pPr>
            <a:r>
              <a:t>DESKTOP  1025px+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18" y="35661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6B6B80"/>
                </a:solidFill>
                <a:latin typeface="Inter"/>
              </a:defRPr>
            </a:pPr>
            <a:r>
              <a:t>•  Nav: 72px height, logo 30px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18" y="39776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6B6B80"/>
                </a:solidFill>
                <a:latin typeface="Inter"/>
              </a:defRPr>
            </a:pPr>
            <a:r>
              <a:t>•  Full nav links + bracket hovers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18" y="43891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6B6B80"/>
                </a:solidFill>
                <a:latin typeface="Inter"/>
              </a:defRPr>
            </a:pPr>
            <a:r>
              <a:t>•  Hover-based card interactions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18" y="48006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6B6B80"/>
                </a:solidFill>
                <a:latin typeface="Inter"/>
              </a:defRPr>
            </a:pPr>
            <a:r>
              <a:t>•  Benefits carousel with arrows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18" y="52120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6B6B80"/>
                </a:solidFill>
                <a:latin typeface="Inter"/>
              </a:defRPr>
            </a:pPr>
            <a:r>
              <a:t>•  Max content width: 1200px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77295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 i="0">
                <a:solidFill>
                  <a:srgbClr val="6B6B80"/>
                </a:solidFill>
                <a:latin typeface="Inter"/>
              </a:defRPr>
            </a:pPr>
            <a:r>
              <a:t>11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3093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6B6B80"/>
                </a:solidFill>
                <a:latin typeface="Inter"/>
              </a:defRPr>
            </a:pPr>
            <a:r>
              <a:t>Sidequest — Design Guidelines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A4FB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gradFill>
            <a:gsLst>
              <a:gs pos="0">
                <a:srgbClr val="77BCCC"/>
              </a:gs>
              <a:gs pos="30000">
                <a:srgbClr val="7A6FD0"/>
              </a:gs>
              <a:gs pos="60000">
                <a:srgbClr val="8A7ED8"/>
              </a:gs>
              <a:gs pos="100000">
                <a:srgbClr val="5A4FB5"/>
              </a:gs>
            </a:gsLst>
            <a:lin ang="81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743200" y="1828800"/>
            <a:ext cx="7315200" cy="7315200"/>
          </a:xfrm>
          <a:prstGeom prst="ellipse">
            <a:avLst/>
          </a:prstGeom>
          <a:ln>
            <a:noFill/>
          </a:ln>
          <a:gradFill>
            <a:gsLst>
              <a:gs pos="0">
                <a:srgbClr val="77BCCC">
                  <a:alpha val="25000"/>
                </a:srgbClr>
              </a:gs>
              <a:gs pos="100000">
                <a:srgbClr val="A3D5E0">
                  <a:alpha val="25000"/>
                </a:srgbClr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229600" y="-1828800"/>
            <a:ext cx="6400800" cy="6400800"/>
          </a:xfrm>
          <a:prstGeom prst="ellipse">
            <a:avLst/>
          </a:prstGeom>
          <a:ln>
            <a:noFill/>
          </a:ln>
          <a:gradFill>
            <a:gsLst>
              <a:gs pos="0">
                <a:srgbClr val="8F8FE0">
                  <a:alpha val="30000"/>
                </a:srgbClr>
              </a:gs>
              <a:gs pos="100000">
                <a:srgbClr val="9585E0">
                  <a:alpha val="30000"/>
                </a:srgbClr>
              </a:gs>
            </a:gsLst>
            <a:lin ang="108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FFFFFF"/>
                </a:solidFill>
                <a:latin typeface="DM Sans"/>
              </a:defRPr>
            </a:pPr>
            <a:r>
              <a:t>SIDEQUEST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 i="0">
                <a:solidFill>
                  <a:srgbClr val="FFFFFF"/>
                </a:solidFill>
                <a:latin typeface="DM Sans"/>
              </a:defRPr>
            </a:pPr>
            <a:r>
              <a:t>Playful by design,</a:t>
            </a:r>
            <a:br/>
            <a:r>
              <a:t>serious in impact.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14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DDDDEE"/>
                </a:solidFill>
                <a:latin typeface="Inter"/>
              </a:defRPr>
            </a:pPr>
            <a:r>
              <a:t>These guidelines ensure every touchpoint feels unmistakably Sidequest.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029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AAAACC"/>
                </a:solidFill>
                <a:latin typeface="Inter"/>
              </a:defRPr>
            </a:pPr>
            <a:r>
              <a:t>sidequest.academy  —  jeroen@sidequest.academy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 i="0">
                <a:solidFill>
                  <a:srgbClr val="FFFFFF"/>
                </a:solidFill>
                <a:latin typeface="Inter"/>
              </a:defRPr>
            </a:pPr>
            <a:r>
              <a:t>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3093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FFFFFF"/>
                </a:solidFill>
                <a:latin typeface="Inter"/>
              </a:defRPr>
            </a:pPr>
            <a:r>
              <a:t>Sidequest — Design Guidelines</a:t>
            </a:r>
          </a:p>
        </p:txBody>
      </p:sp>
      <p:pic>
        <p:nvPicPr>
          <p:cNvPr id="12" name="Picture 11" descr="logo_trimm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4247" y="1220724"/>
            <a:ext cx="2743200" cy="65379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